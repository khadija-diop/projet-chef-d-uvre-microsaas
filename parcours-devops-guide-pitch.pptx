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[0:00-0:15] Accroche : "Apprendre le DevOps en théorie reste abstrait : ressources dispersées, ordre flou, progression impossible à suivre." Se présenter en une phrase. Annoncer le plan en une phrase : problème, solution, produit, conception (archi/données/sécurité), état d'avancement.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[0:15-0:45] Dérouler les 3 cartes rapidement, une phrase chacune. Ne pas lire les descriptions mot à mot, les paraphraser. Cible du produit : apprenant·es débutant·es en DevOps, étudiant·es en dev/CDA, dev junior. Hors périmètre assumé si le temps presse : Kubernetes, microservices, multi-cloud — pas pour la V1.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[0:45-1:20] Une phrase de proposition de valeur (PRD). Montrer l'écran d'accueil à l'écran, commenter les 3 blocs de promesse sans les relire intégralement. Insister : "une seule promesse, pas dix" — c'est le choix de scope qui différencie le produit d'une simple doc en ligne.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[1:20-2:00] Montrer la liste des modules à l'écran, pointer la barre de progression globale (33%). Citer 2-3 modules en exemple (Linux/terminal, Git, Docker). Rappeler les 8 modules déjà spécifiés et maquettés. Admin = brique support technique indispensable, pas la fonctionnalité vedette (la promesse reste consultation + progression).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[2:00-2:35] Ne pas dérouler chaque token, donner l'intention générale : sobre, lisible pour un public débutant, credible pour un public technique. Le point fort à mettre en avant si le temps le permet : RGAA 4.1 vérifié (contrastes AA/AAA), jamais la couleur seule pour un statut. Le lien Figma est cliquable sur la slide : l'ouvrir en live seulement si demandé en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[2:35-3:10] Une phrase sur le pourquoi de la stack : simple à maintenir, pertinent pour une V1, séparation claire des responsabilités. Sur le schéma : le reverse-proxy termine le TLS, la zone privée (frontend/backend/DB) n'est pas exposée publiquement. Anti-question : "Pourquoi pas Kubernetes tout de suite ?" → hors périmètre V1 assumé.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[3:10-3:45] Montrer le MCD 10 secondes, pas plus. Dire : Progress est l'entité association qui matérialise le N,N User&lt;-&gt;Module (clé composite user_id+module_id, jamais de doublon). module_resources fait pareil entre Module et Resource : une ressource peut être partagée par plusieurs modules. Roles est sorti en table plutôt qu'en enum pour rester extensible. Anti-question : "Pourquoi pas un historique complet de la progression ?" → sobriété V1, status suffit, évolution possible. Les vignettes MLD/MPD en haut à droite sont cliquables : à ouvrir seulement si une question porte sur le niveau physique.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[3:45-4:25] Le diagramme de séquence montre le flux d'inscription/connexion réel, avec les branches d'échec (400/409/401) et l'étape de hachage bcrypt explicite. Anti-question : "Pourquoi session/cookie plutôt que JWT ?" → évite le stockage de jetons sensibles côté client, contrôle serveur plus simple, cookie HttpOnly/Secure/SameSite=Lax. Dire clairement : ces 5 protections sont déjà codées et testées, pas juste documentées. Le bouton en bas à gauche ouvre le diagramme de séquence complet (parcours + progression), à garder pour la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[4:25-4:55] Être honnête et assumé sur l'état réel : Phase 1 conception terminée, l'authentification est le code de preuve de faisabilité, le reste (Modules/Ressources/Progression) est modélisé mais pas encore exposé en API. Phase 3 = piste à valider avec le mentor, pas un engagement. Ne pas sur-vendre l'avancement : mieux vaut assumer le scope réel devant le jury.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[4:55-5:10] Résumé en une phrase, transition explicite vers les questions : "Je suis prête à répondre à vos questions."
PENSE-BETE Q&amp;A (4 min, 5 collègues) — anti-questions pièges avec réponse courte :
- Pourquoi pas Kubernetes tout de suite ? -&gt; Hors périmètre V1 assumé, cf. roadmap Phase 3.
- Pourquoi une seule table de progression et pas un historique complet ? -&gt; Sobriété V1, status suffit ; historique = évolution possible.
- Pourquoi session/cookie plutôt que JWT ? -&gt; Évite le stockage de jetons sensibles côté client, contrôle serveur plus simple.
- Pourquoi une table roles plutôt qu'un enum ? -&gt; Extensible sans migration de type, permissions futures possibles.
- Pourquoi module_resources en table de jointure et pas un FK direct ? -&gt; Une ressource doit pouvoir être partagée entre plusieurs modules (ex. doc Git réutilisée en CI).
- Le reverse-proxy et le HTTPS sont-ils vraiment en place ? -&gt; Non, assumé comme cible Phase 2 ; le diagramme le dit explicitement.
Si une question sort du cadre : reformuler en une phrase, répondre court, proposer d'approfondir après la soutenance plutôt que de dépasser le temps.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ZOOM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11.xml"/><Relationship Id="rId3" Type="http://schemas.openxmlformats.org/officeDocument/2006/relationships/slide" Target="slide11.xml"/><Relationship Id="rId4" Type="http://schemas.openxmlformats.org/officeDocument/2006/relationships/slide" Target="slide11.xml"/><Relationship Id="rId1" Type="http://schemas.openxmlformats.org/officeDocument/2006/relationships/image" Target="../media/image-3-1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12.xml"/><Relationship Id="rId3" Type="http://schemas.openxmlformats.org/officeDocument/2006/relationships/slide" Target="slide12.xml"/><Relationship Id="rId4" Type="http://schemas.openxmlformats.org/officeDocument/2006/relationships/slide" Target="slide12.xml"/><Relationship Id="rId1" Type="http://schemas.openxmlformats.org/officeDocument/2006/relationships/image" Target="../media/image-4-1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13.xml"/><Relationship Id="rId3" Type="http://schemas.openxmlformats.org/officeDocument/2006/relationships/slide" Target="slide13.xml"/><Relationship Id="rId4" Type="http://schemas.openxmlformats.org/officeDocument/2006/relationships/slide" Target="slide13.xml"/><Relationship Id="rId5" Type="http://schemas.openxmlformats.org/officeDocument/2006/relationships/hyperlink" Target="https://www.figma.com/design/OL1nUrNFEaoYM0AvW0JXll/Parcours-DevOps-Guide?node-id=82-4056" TargetMode="External"/><Relationship Id="rId1" Type="http://schemas.openxmlformats.org/officeDocument/2006/relationships/image" Target="../media/image-5-1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14.xml"/><Relationship Id="rId3" Type="http://schemas.openxmlformats.org/officeDocument/2006/relationships/slide" Target="slide14.xml"/><Relationship Id="rId4" Type="http://schemas.openxmlformats.org/officeDocument/2006/relationships/slide" Target="slide14.xml"/><Relationship Id="rId1" Type="http://schemas.openxmlformats.org/officeDocument/2006/relationships/image" Target="../media/image-6-1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" Target="slide15.xml"/><Relationship Id="rId3" Type="http://schemas.openxmlformats.org/officeDocument/2006/relationships/slide" Target="slide15.xml"/><Relationship Id="rId4" Type="http://schemas.openxmlformats.org/officeDocument/2006/relationships/slide" Target="slide15.xml"/><Relationship Id="rId5" Type="http://schemas.openxmlformats.org/officeDocument/2006/relationships/slide" Target="slide15.xml"/><Relationship Id="rId6" Type="http://schemas.openxmlformats.org/officeDocument/2006/relationships/slide" Target="slide16.xml"/><Relationship Id="rId8" Type="http://schemas.openxmlformats.org/officeDocument/2006/relationships/slide" Target="slide16.xml"/><Relationship Id="rId9" Type="http://schemas.openxmlformats.org/officeDocument/2006/relationships/slide" Target="slide16.xml"/><Relationship Id="rId10" Type="http://schemas.openxmlformats.org/officeDocument/2006/relationships/slide" Target="slide16.xml"/><Relationship Id="rId12" Type="http://schemas.openxmlformats.org/officeDocument/2006/relationships/slide" Target="slide17.xml"/><Relationship Id="rId13" Type="http://schemas.openxmlformats.org/officeDocument/2006/relationships/slide" Target="slide17.xml"/><Relationship Id="rId14" Type="http://schemas.openxmlformats.org/officeDocument/2006/relationships/slide" Target="slide17.xml"/><Relationship Id="rId2" Type="http://schemas.openxmlformats.org/officeDocument/2006/relationships/image" Target="../media/image-7-1.png"/><Relationship Id="rId7" Type="http://schemas.openxmlformats.org/officeDocument/2006/relationships/image" Target="../media/image-7-2.png"/><Relationship Id="rId11" Type="http://schemas.openxmlformats.org/officeDocument/2006/relationships/image" Target="../media/image-7-3.png"/><Relationship Id="rId15" Type="http://schemas.openxmlformats.org/officeDocument/2006/relationships/slideLayout" Target="../slideLayouts/slideLayout2.xml"/><Relationship Id="rId1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" Target="slide18.xml"/><Relationship Id="rId3" Type="http://schemas.openxmlformats.org/officeDocument/2006/relationships/slide" Target="slide19.xml"/><Relationship Id="rId4" Type="http://schemas.openxmlformats.org/officeDocument/2006/relationships/slide" Target="slide19.xml"/><Relationship Id="rId5" Type="http://schemas.openxmlformats.org/officeDocument/2006/relationships/slide" Target="slide19.xml"/><Relationship Id="rId2" Type="http://schemas.openxmlformats.org/officeDocument/2006/relationships/image" Target="../media/image-8-1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3.xml"/><Relationship Id="rId4" Type="http://schemas.openxmlformats.org/officeDocument/2006/relationships/slide" Target="slide3.xml"/><Relationship Id="rId3" Type="http://schemas.openxmlformats.org/officeDocument/2006/relationships/image" Target="../media/image-11-1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" Target="slide4.xml"/><Relationship Id="rId2" Type="http://schemas.openxmlformats.org/officeDocument/2006/relationships/slide" Target="slide4.xml"/><Relationship Id="rId4" Type="http://schemas.openxmlformats.org/officeDocument/2006/relationships/slide" Target="slide4.xml"/><Relationship Id="rId3" Type="http://schemas.openxmlformats.org/officeDocument/2006/relationships/image" Target="../media/image-12-1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" Target="slide5.xml"/><Relationship Id="rId2" Type="http://schemas.openxmlformats.org/officeDocument/2006/relationships/slide" Target="slide5.xml"/><Relationship Id="rId4" Type="http://schemas.openxmlformats.org/officeDocument/2006/relationships/slide" Target="slide5.xml"/><Relationship Id="rId3" Type="http://schemas.openxmlformats.org/officeDocument/2006/relationships/image" Target="../media/image-13-1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" Target="slide6.xml"/><Relationship Id="rId2" Type="http://schemas.openxmlformats.org/officeDocument/2006/relationships/slide" Target="slide6.xml"/><Relationship Id="rId4" Type="http://schemas.openxmlformats.org/officeDocument/2006/relationships/slide" Target="slide6.xml"/><Relationship Id="rId3" Type="http://schemas.openxmlformats.org/officeDocument/2006/relationships/image" Target="../media/image-14-1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" Target="slide7.xml"/><Relationship Id="rId2" Type="http://schemas.openxmlformats.org/officeDocument/2006/relationships/slide" Target="slide7.xml"/><Relationship Id="rId4" Type="http://schemas.openxmlformats.org/officeDocument/2006/relationships/slide" Target="slide7.xml"/><Relationship Id="rId3" Type="http://schemas.openxmlformats.org/officeDocument/2006/relationships/image" Target="../media/image-15-1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" Target="slide7.xml"/><Relationship Id="rId2" Type="http://schemas.openxmlformats.org/officeDocument/2006/relationships/slide" Target="slide7.xml"/><Relationship Id="rId4" Type="http://schemas.openxmlformats.org/officeDocument/2006/relationships/slide" Target="slide7.xml"/><Relationship Id="rId3" Type="http://schemas.openxmlformats.org/officeDocument/2006/relationships/image" Target="../media/image-16-1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" Target="slide7.xml"/><Relationship Id="rId2" Type="http://schemas.openxmlformats.org/officeDocument/2006/relationships/slide" Target="slide7.xml"/><Relationship Id="rId4" Type="http://schemas.openxmlformats.org/officeDocument/2006/relationships/slide" Target="slide7.xml"/><Relationship Id="rId3" Type="http://schemas.openxmlformats.org/officeDocument/2006/relationships/image" Target="../media/image-17-1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" Target="slide8.xml"/><Relationship Id="rId2" Type="http://schemas.openxmlformats.org/officeDocument/2006/relationships/slide" Target="slide8.xml"/><Relationship Id="rId4" Type="http://schemas.openxmlformats.org/officeDocument/2006/relationships/slide" Target="slide8.xml"/><Relationship Id="rId3" Type="http://schemas.openxmlformats.org/officeDocument/2006/relationships/image" Target="../media/image-18-1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" Target="slide8.xml"/><Relationship Id="rId2" Type="http://schemas.openxmlformats.org/officeDocument/2006/relationships/slide" Target="slide8.xml"/><Relationship Id="rId4" Type="http://schemas.openxmlformats.org/officeDocument/2006/relationships/slide" Target="slide8.xml"/><Relationship Id="rId3" Type="http://schemas.openxmlformats.org/officeDocument/2006/relationships/image" Target="../media/image-19-1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2563E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206240"/>
            <a:ext cx="2926080" cy="2926080"/>
          </a:xfrm>
          <a:prstGeom prst="ellipse">
            <a:avLst/>
          </a:prstGeom>
          <a:solidFill>
            <a:srgbClr val="16A34A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4663440"/>
            <a:ext cx="3291840" cy="3291840"/>
          </a:xfrm>
          <a:prstGeom prst="ellipse">
            <a:avLst/>
          </a:prstGeom>
          <a:solidFill>
            <a:srgbClr val="2563EB">
              <a:alpha val="12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CHEF-D'ŒUVRE · TITRE CDA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3172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Parcours DevOps Guide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520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Apprendre le DevOps avec un parcours clair, une étape à la fois.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989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Khady Diop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MicroSaaS niche · Phase 1 — Conception
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CONTEXTE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Apprendre le DevOps reste abstrait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38328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03120"/>
            <a:ext cx="548640" cy="548640"/>
          </a:xfrm>
          <a:prstGeom prst="ellipse">
            <a:avLst/>
          </a:prstGeom>
          <a:solidFill>
            <a:srgbClr val="DBEAF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8346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Ressources dispersées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47472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Docs, vidéos, blogs, tutos — éparpillés, sans fil conducteur.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1783080"/>
            <a:ext cx="338328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2103120"/>
            <a:ext cx="548640" cy="548640"/>
          </a:xfrm>
          <a:prstGeom prst="ellipse">
            <a:avLst/>
          </a:prstGeom>
          <a:solidFill>
            <a:srgbClr val="DBEAF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1772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28346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Ordre d'apprentissage flou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347472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où commencer ? Quelle étape vient après laquelle ?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46720" y="1783080"/>
            <a:ext cx="338328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66760" y="2103120"/>
            <a:ext cx="548640" cy="548640"/>
          </a:xfrm>
          <a:prstGeom prst="ellipse">
            <a:avLst/>
          </a:prstGeom>
          <a:solidFill>
            <a:srgbClr val="DBEAF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6676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366760" y="28346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impossible à suivre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366760" y="347472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moyen simple de savoir où on en est vraiment.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937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Apprendre le DevOps en théorie reste abstrait : ressources dispersées, ordre flou, progression impossible à suivre. »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0908792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10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Parcours DevOps Guide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parcours, pas un capharnaüm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MicroSaaS simple : un parcours DevOps structuré en modules, des ressources ciblées à chaque étape, une progression que l'on peut enfin suivre.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788920"/>
            <a:ext cx="310896" cy="310896"/>
          </a:xfrm>
          <a:prstGeom prst="ellipse">
            <a:avLst/>
          </a:prstGeom>
          <a:solidFill>
            <a:srgbClr val="DCFCE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788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273405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promesse, pas dix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308152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modules ordonnés, du terminal à la sécurité, sans détour marketing.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840480"/>
            <a:ext cx="310896" cy="310896"/>
          </a:xfrm>
          <a:prstGeom prst="ellipse">
            <a:avLst/>
          </a:prstGeom>
          <a:solidFill>
            <a:srgbClr val="DCFCE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840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378561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visible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413308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module terminé fait avancer une barre de progression claire.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892040"/>
            <a:ext cx="310896" cy="310896"/>
          </a:xfrm>
          <a:prstGeom prst="ellipse">
            <a:avLst/>
          </a:prstGeom>
          <a:solidFill>
            <a:srgbClr val="DCFCE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892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483717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Ressources filtrées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051560" y="518464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article, une vidéo ou une check-list par étape — jamais 15 liens en vrac.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90488" y="1527048"/>
            <a:ext cx="5541264" cy="3419856"/>
          </a:xfrm>
          <a:prstGeom prst="roundRect">
            <a:avLst>
              <a:gd name="adj" fmla="val 26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38100" dir="5400000">
              <a:srgbClr val="0F172A">
                <a:alpha val="18000"/>
              </a:srgbClr>
            </a:outerShdw>
          </a:effectLst>
        </p:spPr>
      </p:sp>
      <p:pic>
        <p:nvPicPr>
          <p:cNvPr id="18" name="Image 0" descr="/tmp/merise/screens/01-accue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0" y="1600200"/>
            <a:ext cx="5394960" cy="3273552"/>
          </a:xfrm>
          <a:prstGeom prst="rect">
            <a:avLst/>
          </a:prstGeom>
        </p:spPr>
      </p:pic>
      <p:sp>
        <p:nvSpPr>
          <p:cNvPr id="19" name="Shape 16">
            <a:hlinkClick r:id="rId2" tooltip="" action="ppaction://hlinksldjump"/>
          </p:cNvPr>
          <p:cNvSpPr/>
          <p:nvPr/>
        </p:nvSpPr>
        <p:spPr>
          <a:xfrm>
            <a:off x="6263640" y="1600200"/>
            <a:ext cx="5394960" cy="327355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0" name="Shape 17">
            <a:hlinkClick r:id="rId3" tooltip="" action="ppaction://hlinksldjump"/>
          </p:cNvPr>
          <p:cNvSpPr/>
          <p:nvPr/>
        </p:nvSpPr>
        <p:spPr>
          <a:xfrm>
            <a:off x="10479024" y="4453128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/>
          <a:effectLst>
            <a:outerShdw sx="100000" sy="100000" kx="0" ky="0" algn="bl" rotWithShape="0" blurRad="63500" dist="25400" dir="5400000">
              <a:srgbClr val="0F172A">
                <a:alpha val="25000"/>
              </a:srgbClr>
            </a:outerShdw>
          </a:effectLst>
        </p:spPr>
      </p:sp>
      <p:sp>
        <p:nvSpPr>
          <p:cNvPr id="21" name="Text 18">
            <a:hlinkClick r:id="rId4" tooltip="" action="ppaction://hlinksldjump"/>
          </p:cNvPr>
          <p:cNvSpPr txBox="1"/>
          <p:nvPr/>
        </p:nvSpPr>
        <p:spPr>
          <a:xfrm>
            <a:off x="10479024" y="445312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u="sng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AGRANDIR  ⤢</a:t>
            </a:r>
            <a:endParaRPr lang="en-US" sz="850" dirty="0"/>
          </a:p>
        </p:txBody>
      </p:sp>
      <p:sp>
        <p:nvSpPr>
          <p:cNvPr id="22" name="Text 19"/>
          <p:cNvSpPr txBox="1"/>
          <p:nvPr/>
        </p:nvSpPr>
        <p:spPr>
          <a:xfrm>
            <a:off x="10908792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10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Parcours DevOps Guide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PRODUIT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Consulter, apprendre, suivre sa progression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rôles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9659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Visiteur·se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057400" y="1965960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057400" y="19659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Apprenant·e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794760" y="1965960"/>
            <a:ext cx="1965960" cy="36576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794760" y="196596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Administrateur·rice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697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parcours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108960"/>
            <a:ext cx="329184" cy="329184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1089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3118104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Découvrir le produit sur la page publique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639312"/>
            <a:ext cx="329184" cy="329184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36393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3648456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 compte ou se connecter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169664"/>
            <a:ext cx="329184" cy="329184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41696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417880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Consulter la liste des modules ordonnés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4700016"/>
            <a:ext cx="329184" cy="329184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48640" y="47000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470916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Ouvrir un module : objectif + ressources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5230368"/>
            <a:ext cx="329184" cy="329184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52303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523951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Marquer le module terminé → progression à jour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870448" y="1527048"/>
            <a:ext cx="5861304" cy="4187952"/>
          </a:xfrm>
          <a:prstGeom prst="roundRect">
            <a:avLst>
              <a:gd name="adj" fmla="val 218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38100" dir="5400000">
              <a:srgbClr val="0F172A">
                <a:alpha val="18000"/>
              </a:srgbClr>
            </a:outerShdw>
          </a:effectLst>
        </p:spPr>
      </p:sp>
      <p:pic>
        <p:nvPicPr>
          <p:cNvPr id="28" name="Image 0" descr="/tmp/merise/screens/03-modu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600200"/>
            <a:ext cx="5715000" cy="4041648"/>
          </a:xfrm>
          <a:prstGeom prst="rect">
            <a:avLst/>
          </a:prstGeom>
        </p:spPr>
      </p:pic>
      <p:sp>
        <p:nvSpPr>
          <p:cNvPr id="29" name="Shape 26">
            <a:hlinkClick r:id="rId2" tooltip="" action="ppaction://hlinksldjump"/>
          </p:cNvPr>
          <p:cNvSpPr/>
          <p:nvPr/>
        </p:nvSpPr>
        <p:spPr>
          <a:xfrm>
            <a:off x="5943600" y="1600200"/>
            <a:ext cx="5715000" cy="4041648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0" name="Shape 27">
            <a:hlinkClick r:id="rId3" tooltip="" action="ppaction://hlinksldjump"/>
          </p:cNvPr>
          <p:cNvSpPr/>
          <p:nvPr/>
        </p:nvSpPr>
        <p:spPr>
          <a:xfrm>
            <a:off x="10479024" y="5221224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/>
          <a:effectLst>
            <a:outerShdw sx="100000" sy="100000" kx="0" ky="0" algn="bl" rotWithShape="0" blurRad="63500" dist="25400" dir="5400000">
              <a:srgbClr val="0F172A">
                <a:alpha val="25000"/>
              </a:srgbClr>
            </a:outerShdw>
          </a:effectLst>
        </p:spPr>
      </p:sp>
      <p:sp>
        <p:nvSpPr>
          <p:cNvPr id="31" name="Text 28">
            <a:hlinkClick r:id="rId4" tooltip="" action="ppaction://hlinksldjump"/>
          </p:cNvPr>
          <p:cNvSpPr txBox="1"/>
          <p:nvPr/>
        </p:nvSpPr>
        <p:spPr>
          <a:xfrm>
            <a:off x="10479024" y="5221224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u="sng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AGRANDIR  ⤢</a:t>
            </a:r>
            <a:endParaRPr lang="en-US" sz="850" dirty="0"/>
          </a:p>
        </p:txBody>
      </p:sp>
      <p:sp>
        <p:nvSpPr>
          <p:cNvPr id="32" name="Text 29"/>
          <p:cNvSpPr txBox="1"/>
          <p:nvPr/>
        </p:nvSpPr>
        <p:spPr>
          <a:xfrm>
            <a:off x="10908792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10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Parcours DevOps Guide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UI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system &amp; accessibilité RGAA 4.1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Palette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207008" cy="502920"/>
          </a:xfrm>
          <a:prstGeom prst="roundRect">
            <a:avLst>
              <a:gd name="adj" fmla="val 14545"/>
            </a:avLst>
          </a:prstGeom>
          <a:solidFill>
            <a:srgbClr val="0F172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249631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 / structure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847088" y="1965960"/>
            <a:ext cx="1207008" cy="502920"/>
          </a:xfrm>
          <a:prstGeom prst="roundRect">
            <a:avLst>
              <a:gd name="adj" fmla="val 14545"/>
            </a:avLst>
          </a:prstGeom>
          <a:solidFill>
            <a:srgbClr val="2563E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755648" y="249631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principales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145536" y="1965960"/>
            <a:ext cx="1207008" cy="502920"/>
          </a:xfrm>
          <a:prstGeom prst="roundRect">
            <a:avLst>
              <a:gd name="adj" fmla="val 14545"/>
            </a:avLst>
          </a:prstGeom>
          <a:solidFill>
            <a:srgbClr val="16A34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054096" y="249631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terminée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443984" y="1965960"/>
            <a:ext cx="1207008" cy="502920"/>
          </a:xfrm>
          <a:prstGeom prst="roundRect">
            <a:avLst>
              <a:gd name="adj" fmla="val 14545"/>
            </a:avLst>
          </a:prstGeom>
          <a:solidFill>
            <a:srgbClr val="F59E0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352544" y="249631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d'attention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246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Typographies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56616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interface, lisible pour un public débutant
</a:t>
            </a:r>
            <a:pPr indent="0" marL="0">
              <a:lnSpc>
                <a:spcPct val="135000"/>
              </a:lnSpc>
              <a:buNone/>
            </a:pPr>
            <a:r>
              <a:rPr lang="en-US" sz="12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JetBrains Mono</a:t>
            </a:r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code, labels techniques, statuts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3434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Accessibilité, pas cosmétique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6634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Contrastes vérifiés AA/AAA sur toutes les paires texte/fond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01091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Jamais la couleur seule : badge = fond + icône + libellé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358384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Navigation clavier, focus visible, lien d'évitement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73368" y="1527048"/>
            <a:ext cx="5358384" cy="3310128"/>
          </a:xfrm>
          <a:prstGeom prst="roundRect">
            <a:avLst>
              <a:gd name="adj" fmla="val 276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38100" dir="5400000">
              <a:srgbClr val="0F172A">
                <a:alpha val="18000"/>
              </a:srgbClr>
            </a:outerShdw>
          </a:effectLst>
        </p:spPr>
      </p:sp>
      <p:pic>
        <p:nvPicPr>
          <p:cNvPr id="20" name="Image 0" descr="/tmp/merise/screens/04-detail-modu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1600200"/>
            <a:ext cx="5212080" cy="3163824"/>
          </a:xfrm>
          <a:prstGeom prst="rect">
            <a:avLst/>
          </a:prstGeom>
        </p:spPr>
      </p:pic>
      <p:sp>
        <p:nvSpPr>
          <p:cNvPr id="21" name="Shape 18">
            <a:hlinkClick r:id="rId2" tooltip="" action="ppaction://hlinksldjump"/>
          </p:cNvPr>
          <p:cNvSpPr/>
          <p:nvPr/>
        </p:nvSpPr>
        <p:spPr>
          <a:xfrm>
            <a:off x="6446520" y="1600200"/>
            <a:ext cx="5212080" cy="3163824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2" name="Shape 19">
            <a:hlinkClick r:id="rId3" tooltip="" action="ppaction://hlinksldjump"/>
          </p:cNvPr>
          <p:cNvSpPr/>
          <p:nvPr/>
        </p:nvSpPr>
        <p:spPr>
          <a:xfrm>
            <a:off x="10479024" y="4343400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/>
          <a:effectLst>
            <a:outerShdw sx="100000" sy="100000" kx="0" ky="0" algn="bl" rotWithShape="0" blurRad="63500" dist="25400" dir="5400000">
              <a:srgbClr val="0F172A">
                <a:alpha val="25000"/>
              </a:srgbClr>
            </a:outerShdw>
          </a:effectLst>
        </p:spPr>
      </p:sp>
      <p:sp>
        <p:nvSpPr>
          <p:cNvPr id="23" name="Text 20">
            <a:hlinkClick r:id="rId4" tooltip="" action="ppaction://hlinksldjump"/>
          </p:cNvPr>
          <p:cNvSpPr txBox="1"/>
          <p:nvPr/>
        </p:nvSpPr>
        <p:spPr>
          <a:xfrm>
            <a:off x="10479024" y="434340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u="sng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AGRANDIR  ⤢</a:t>
            </a:r>
            <a:endParaRPr lang="en-US" sz="850" dirty="0"/>
          </a:p>
        </p:txBody>
      </p:sp>
      <p:sp>
        <p:nvSpPr>
          <p:cNvPr id="24" name="Text 21"/>
          <p:cNvSpPr txBox="1"/>
          <p:nvPr/>
        </p:nvSpPr>
        <p:spPr>
          <a:xfrm>
            <a:off x="6446520" y="48920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Maquettes complètes : </a:t>
            </a:r>
            <a:pPr indent="0" marL="0">
              <a:buNone/>
            </a:pPr>
            <a:r>
              <a:rPr lang="en-US" sz="1050" i="1" u="sng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Figma — Parcours DevOps Guide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10908792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10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Parcours DevOps Guide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 LE CAPOT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technique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28016" cy="77724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67335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03911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+ TypeScript (App Router)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128016" cy="77724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63347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99923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 + TypeScript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611880"/>
            <a:ext cx="128016" cy="77724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359359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395935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Prisma ORM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70916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Séparation frontend / backend non négociable : responsabilités claires, simple à maintenir pour une V1.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16168" y="1481328"/>
            <a:ext cx="5815584" cy="4069080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38100" dir="5400000">
              <a:srgbClr val="0F172A">
                <a:alpha val="18000"/>
              </a:srgbClr>
            </a:outerShdw>
          </a:effectLst>
        </p:spPr>
      </p:sp>
      <p:pic>
        <p:nvPicPr>
          <p:cNvPr id="15" name="Image 0" descr="/tmp/merise/deploy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1554480"/>
            <a:ext cx="5669280" cy="3922776"/>
          </a:xfrm>
          <a:prstGeom prst="rect">
            <a:avLst/>
          </a:prstGeom>
        </p:spPr>
      </p:pic>
      <p:sp>
        <p:nvSpPr>
          <p:cNvPr id="16" name="Shape 13">
            <a:hlinkClick r:id="rId2" tooltip="" action="ppaction://hlinksldjump"/>
          </p:cNvPr>
          <p:cNvSpPr/>
          <p:nvPr/>
        </p:nvSpPr>
        <p:spPr>
          <a:xfrm>
            <a:off x="5989320" y="1554480"/>
            <a:ext cx="5669280" cy="3922776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7" name="Shape 14">
            <a:hlinkClick r:id="rId3" tooltip="" action="ppaction://hlinksldjump"/>
          </p:cNvPr>
          <p:cNvSpPr/>
          <p:nvPr/>
        </p:nvSpPr>
        <p:spPr>
          <a:xfrm>
            <a:off x="10479024" y="5056632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/>
          <a:effectLst>
            <a:outerShdw sx="100000" sy="100000" kx="0" ky="0" algn="bl" rotWithShape="0" blurRad="63500" dist="25400" dir="5400000">
              <a:srgbClr val="0F172A">
                <a:alpha val="25000"/>
              </a:srgbClr>
            </a:outerShdw>
          </a:effectLst>
        </p:spPr>
      </p:sp>
      <p:sp>
        <p:nvSpPr>
          <p:cNvPr id="18" name="Text 15">
            <a:hlinkClick r:id="rId4" tooltip="" action="ppaction://hlinksldjump"/>
          </p:cNvPr>
          <p:cNvSpPr txBox="1"/>
          <p:nvPr/>
        </p:nvSpPr>
        <p:spPr>
          <a:xfrm>
            <a:off x="10479024" y="505663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u="sng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AGRANDIR  ⤢</a:t>
            </a:r>
            <a:endParaRPr lang="en-US" sz="850" dirty="0"/>
          </a:p>
        </p:txBody>
      </p:sp>
      <p:sp>
        <p:nvSpPr>
          <p:cNvPr id="19" name="Text 16"/>
          <p:cNvSpPr txBox="1"/>
          <p:nvPr/>
        </p:nvSpPr>
        <p:spPr>
          <a:xfrm>
            <a:off x="10908792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10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Parcours DevOps Guide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de données (MCD)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7406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entités</a:t>
            </a:r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Users, Roles, Modules, Resources, Progress
</a:t>
            </a:r>
            <a:pPr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tables de jointure</a:t>
            </a:r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progress (User×Module) et module_resources (Module×Resource, N,N)
</a:t>
            </a:r>
            <a:pPr indent="0" marL="0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isolé</a:t>
            </a:r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table plutôt qu'en enum : extensible sans migration de type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8183880" y="15544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VOIR AUSSI</a:t>
            </a:r>
            <a:endParaRPr lang="en-US" sz="1000" dirty="0"/>
          </a:p>
        </p:txBody>
      </p:sp>
      <p:sp>
        <p:nvSpPr>
          <p:cNvPr id="6" name="Shape 4">
            <a:hlinkClick r:id="rId1" tooltip="" action="ppaction://hlinksldjump"/>
          </p:cNvPr>
          <p:cNvSpPr/>
          <p:nvPr/>
        </p:nvSpPr>
        <p:spPr>
          <a:xfrm>
            <a:off x="8183880" y="1847088"/>
            <a:ext cx="1664208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5400000">
              <a:srgbClr val="0F172A">
                <a:alpha val="15000"/>
              </a:srgbClr>
            </a:outerShdw>
          </a:effectLst>
        </p:spPr>
      </p:sp>
      <p:pic>
        <p:nvPicPr>
          <p:cNvPr id="7" name="Image 0" descr="/tmp/merise/mld.png">
            <a:hlinkClick r:id="rId3" tooltip="" action="ppaction://hlinksldjump"/>
      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257032" y="1920240"/>
            <a:ext cx="1517904" cy="539496"/>
          </a:xfrm>
          <a:prstGeom prst="rect">
            <a:avLst/>
          </a:prstGeom>
        </p:spPr>
      </p:pic>
      <p:sp>
        <p:nvSpPr>
          <p:cNvPr id="8" name="Shape 5">
            <a:hlinkClick r:id="rId4" tooltip="" action="ppaction://hlinksldjump"/>
          </p:cNvPr>
          <p:cNvSpPr/>
          <p:nvPr/>
        </p:nvSpPr>
        <p:spPr>
          <a:xfrm>
            <a:off x="8183880" y="2514600"/>
            <a:ext cx="1664208" cy="292608"/>
          </a:xfrm>
          <a:prstGeom prst="roundRect">
            <a:avLst/>
          </a:prstGeom>
          <a:solidFill>
            <a:srgbClr val="DBEAFE"/>
          </a:solidFill>
          <a:ln/>
        </p:spPr>
      </p:sp>
      <p:sp>
        <p:nvSpPr>
          <p:cNvPr id="9" name="Text 6">
            <a:hlinkClick r:id="rId5" tooltip="" action="ppaction://hlinksldjump"/>
          </p:cNvPr>
          <p:cNvSpPr txBox="1"/>
          <p:nvPr/>
        </p:nvSpPr>
        <p:spPr>
          <a:xfrm>
            <a:off x="8183880" y="2514600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u="sng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MLD  ⤢</a:t>
            </a:r>
            <a:endParaRPr lang="en-US" sz="950" dirty="0"/>
          </a:p>
        </p:txBody>
      </p:sp>
      <p:sp>
        <p:nvSpPr>
          <p:cNvPr id="10" name="Shape 7">
            <a:hlinkClick r:id="rId6" tooltip="" action="ppaction://hlinksldjump"/>
          </p:cNvPr>
          <p:cNvSpPr/>
          <p:nvPr/>
        </p:nvSpPr>
        <p:spPr>
          <a:xfrm>
            <a:off x="9966960" y="1847088"/>
            <a:ext cx="1664208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5400000">
              <a:srgbClr val="0F172A">
                <a:alpha val="15000"/>
              </a:srgbClr>
            </a:outerShdw>
          </a:effectLst>
        </p:spPr>
      </p:sp>
      <p:pic>
        <p:nvPicPr>
          <p:cNvPr id="11" name="Image 1" descr="/tmp/merise/mpd.png">
            <a:hlinkClick r:id="rId8" tooltip="" action="ppaction://hlinksldjump"/>
      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10040112" y="1920240"/>
            <a:ext cx="1517904" cy="539496"/>
          </a:xfrm>
          <a:prstGeom prst="rect">
            <a:avLst/>
          </a:prstGeom>
        </p:spPr>
      </p:pic>
      <p:sp>
        <p:nvSpPr>
          <p:cNvPr id="12" name="Shape 8">
            <a:hlinkClick r:id="rId9" tooltip="" action="ppaction://hlinksldjump"/>
          </p:cNvPr>
          <p:cNvSpPr/>
          <p:nvPr/>
        </p:nvSpPr>
        <p:spPr>
          <a:xfrm>
            <a:off x="9966960" y="2514600"/>
            <a:ext cx="1664208" cy="292608"/>
          </a:xfrm>
          <a:prstGeom prst="roundRect">
            <a:avLst/>
          </a:prstGeom>
          <a:solidFill>
            <a:srgbClr val="DBEAFE"/>
          </a:solidFill>
          <a:ln/>
        </p:spPr>
      </p:sp>
      <p:sp>
        <p:nvSpPr>
          <p:cNvPr id="13" name="Text 9">
            <a:hlinkClick r:id="rId10" tooltip="" action="ppaction://hlinksldjump"/>
          </p:cNvPr>
          <p:cNvSpPr txBox="1"/>
          <p:nvPr/>
        </p:nvSpPr>
        <p:spPr>
          <a:xfrm>
            <a:off x="9966960" y="2514600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u="sng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MPD  ⤢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566928" y="2807208"/>
            <a:ext cx="11027664" cy="2258568"/>
          </a:xfrm>
          <a:prstGeom prst="roundRect">
            <a:avLst>
              <a:gd name="adj" fmla="val 404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38100" dir="5400000">
              <a:srgbClr val="0F172A">
                <a:alpha val="18000"/>
              </a:srgbClr>
            </a:outerShdw>
          </a:effectLst>
        </p:spPr>
      </p:sp>
      <p:pic>
        <p:nvPicPr>
          <p:cNvPr id="15" name="Image 2" descr="/tmp/merise/mc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0080" y="2880360"/>
            <a:ext cx="10881360" cy="2112264"/>
          </a:xfrm>
          <a:prstGeom prst="rect">
            <a:avLst/>
          </a:prstGeom>
        </p:spPr>
      </p:pic>
      <p:sp>
        <p:nvSpPr>
          <p:cNvPr id="16" name="Shape 11">
            <a:hlinkClick r:id="rId12" tooltip="" action="ppaction://hlinksldjump"/>
          </p:cNvPr>
          <p:cNvSpPr/>
          <p:nvPr/>
        </p:nvSpPr>
        <p:spPr>
          <a:xfrm>
            <a:off x="640080" y="2880360"/>
            <a:ext cx="10881360" cy="2112264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7" name="Shape 12">
            <a:hlinkClick r:id="rId13" tooltip="" action="ppaction://hlinksldjump"/>
          </p:cNvPr>
          <p:cNvSpPr/>
          <p:nvPr/>
        </p:nvSpPr>
        <p:spPr>
          <a:xfrm>
            <a:off x="10341864" y="4572000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/>
          <a:effectLst>
            <a:outerShdw sx="100000" sy="100000" kx="0" ky="0" algn="bl" rotWithShape="0" blurRad="63500" dist="25400" dir="5400000">
              <a:srgbClr val="0F172A">
                <a:alpha val="25000"/>
              </a:srgbClr>
            </a:outerShdw>
          </a:effectLst>
        </p:spPr>
      </p:sp>
      <p:sp>
        <p:nvSpPr>
          <p:cNvPr id="18" name="Text 13">
            <a:hlinkClick r:id="rId14" tooltip="" action="ppaction://hlinksldjump"/>
          </p:cNvPr>
          <p:cNvSpPr txBox="1"/>
          <p:nvPr/>
        </p:nvSpPr>
        <p:spPr>
          <a:xfrm>
            <a:off x="10341864" y="457200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u="sng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AGRANDIR  ⤢</a:t>
            </a:r>
            <a:endParaRPr lang="en-US" sz="85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52578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MLD, MPD (PostgreSQL) et diagrammes de jointure détaillés dans le dossier de conception.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10908792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10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Parcours DevOps Guide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sécurité n'est pas une option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92608" cy="292608"/>
          </a:xfrm>
          <a:prstGeom prst="ellipse">
            <a:avLst/>
          </a:prstGeom>
          <a:solidFill>
            <a:srgbClr val="DCFCE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636776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Mots de passe hachés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938528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bcrypt, 10 rounds — jamais stocké en clair (password_hash).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532888"/>
            <a:ext cx="292608" cy="292608"/>
          </a:xfrm>
          <a:prstGeom prst="ellipse">
            <a:avLst/>
          </a:prstGeom>
          <a:solidFill>
            <a:srgbClr val="DCFCE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5328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2478024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Session, pas de jeton client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779776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 HttpOnly, Secure, SameSite=Lax.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374136"/>
            <a:ext cx="292608" cy="292608"/>
          </a:xfrm>
          <a:prstGeom prst="ellipse">
            <a:avLst/>
          </a:prstGeom>
          <a:solidFill>
            <a:srgbClr val="DCFCE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3741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3319272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systématique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3621024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entrée passe par un schéma Zod avant traitement.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215384"/>
            <a:ext cx="292608" cy="292608"/>
          </a:xfrm>
          <a:prstGeom prst="ellipse">
            <a:avLst/>
          </a:prstGeom>
          <a:solidFill>
            <a:srgbClr val="DCFCE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2153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416052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d'accès par rôle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1005840" y="446227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requireAuth / requireAdmin sur les routes protégées.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5056632"/>
            <a:ext cx="292608" cy="292608"/>
          </a:xfrm>
          <a:prstGeom prst="ellipse">
            <a:avLst/>
          </a:prstGeom>
          <a:solidFill>
            <a:srgbClr val="DCFCE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50566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005840" y="5001768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hors du dépôt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1005840" y="530352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 ignoré par Git, échec explicite si absent en prod.</a:t>
            </a:r>
            <a:endParaRPr lang="en-US" sz="1150" dirty="0"/>
          </a:p>
        </p:txBody>
      </p:sp>
      <p:sp>
        <p:nvSpPr>
          <p:cNvPr id="24" name="Shape 22">
            <a:hlinkClick r:id="rId1" tooltip="" action="ppaction://hlinksldjump"/>
          </p:cNvPr>
          <p:cNvSpPr/>
          <p:nvPr/>
        </p:nvSpPr>
        <p:spPr>
          <a:xfrm>
            <a:off x="548640" y="5943600"/>
            <a:ext cx="4023360" cy="36576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/>
        </p:spPr>
      </p:sp>
      <p:sp>
        <p:nvSpPr>
          <p:cNvPr id="25" name="Text 23">
            <a:hlinkClick r:id="rId1" tooltip="" action="ppaction://hlinksldjump"/>
          </p:cNvPr>
          <p:cNvSpPr txBox="1"/>
          <p:nvPr/>
        </p:nvSpPr>
        <p:spPr>
          <a:xfrm>
            <a:off x="548640" y="59436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Voir la suite (consultation + progression)  ⤢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830568" y="795528"/>
            <a:ext cx="4901184" cy="5769864"/>
          </a:xfrm>
          <a:prstGeom prst="roundRect">
            <a:avLst>
              <a:gd name="adj" fmla="val 186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38100" dir="5400000">
              <a:srgbClr val="0F172A">
                <a:alpha val="18000"/>
              </a:srgbClr>
            </a:outerShdw>
          </a:effectLst>
        </p:spPr>
      </p:sp>
      <p:pic>
        <p:nvPicPr>
          <p:cNvPr id="27" name="Image 0" descr="/tmp/merise/sequence-auth-crop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903720" y="868680"/>
            <a:ext cx="4754880" cy="5623560"/>
          </a:xfrm>
          <a:prstGeom prst="rect">
            <a:avLst/>
          </a:prstGeom>
        </p:spPr>
      </p:pic>
      <p:sp>
        <p:nvSpPr>
          <p:cNvPr id="28" name="Shape 25">
            <a:hlinkClick r:id="rId3" tooltip="" action="ppaction://hlinksldjump"/>
          </p:cNvPr>
          <p:cNvSpPr/>
          <p:nvPr/>
        </p:nvSpPr>
        <p:spPr>
          <a:xfrm>
            <a:off x="6903720" y="868680"/>
            <a:ext cx="4754880" cy="562356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9" name="Shape 26">
            <a:hlinkClick r:id="rId4" tooltip="" action="ppaction://hlinksldjump"/>
          </p:cNvPr>
          <p:cNvSpPr/>
          <p:nvPr/>
        </p:nvSpPr>
        <p:spPr>
          <a:xfrm>
            <a:off x="10479024" y="6071616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/>
          <a:effectLst>
            <a:outerShdw sx="100000" sy="100000" kx="0" ky="0" algn="bl" rotWithShape="0" blurRad="63500" dist="25400" dir="5400000">
              <a:srgbClr val="0F172A">
                <a:alpha val="25000"/>
              </a:srgbClr>
            </a:outerShdw>
          </a:effectLst>
        </p:spPr>
      </p:sp>
      <p:sp>
        <p:nvSpPr>
          <p:cNvPr id="30" name="Text 27">
            <a:hlinkClick r:id="rId5" tooltip="" action="ppaction://hlinksldjump"/>
          </p:cNvPr>
          <p:cNvSpPr txBox="1"/>
          <p:nvPr/>
        </p:nvSpPr>
        <p:spPr>
          <a:xfrm>
            <a:off x="10479024" y="6071616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u="sng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AGRANDIR  ⤢</a:t>
            </a:r>
            <a:endParaRPr lang="en-US" sz="850" dirty="0"/>
          </a:p>
        </p:txBody>
      </p:sp>
      <p:sp>
        <p:nvSpPr>
          <p:cNvPr id="31" name="Text 28"/>
          <p:cNvSpPr txBox="1"/>
          <p:nvPr/>
        </p:nvSpPr>
        <p:spPr>
          <a:xfrm>
            <a:off x="10908792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10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Parcours DevOps Guide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OÙ ON EN EST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 d'avancement &amp; feuille de route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03120"/>
            <a:ext cx="457200" cy="457200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60320" y="2148840"/>
            <a:ext cx="1143000" cy="329184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560320" y="2148840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7889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Conception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429000"/>
            <a:ext cx="2880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PRD, specs, MCD/MLD/MPD, maquettes Figma, authentification codée et testée (register/login/logout/me).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97680" y="182880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0" y="2103120"/>
            <a:ext cx="457200" cy="457200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09360" y="2148840"/>
            <a:ext cx="1143000" cy="329184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309360" y="2148840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VENIR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0" y="27889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Réalisation</a:t>
            </a:r>
            <a:endParaRPr lang="en-US" sz="15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0" y="3429000"/>
            <a:ext cx="2880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Modules / Ressources / Progression, conteneurisation complète, CI/CD, déploiement.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46720" y="182880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321040" y="2103120"/>
            <a:ext cx="457200" cy="457200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32104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0058400" y="2148840"/>
            <a:ext cx="1143000" cy="329184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058400" y="2148840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PISTE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321040" y="27889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Extension (à valider)</a:t>
            </a:r>
            <a:endParaRPr lang="en-US" sz="1550" dirty="0"/>
          </a:p>
        </p:txBody>
      </p:sp>
      <p:sp>
        <p:nvSpPr>
          <p:cNvPr id="24" name="Text 22"/>
          <p:cNvSpPr txBox="1"/>
          <p:nvPr/>
        </p:nvSpPr>
        <p:spPr>
          <a:xfrm>
            <a:off x="8321040" y="3429000"/>
            <a:ext cx="2880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avancés : Ansible, Terraform, Kubernetes, observabilité — proposé, pas engagé.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0908792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10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Parcours DevOps Guide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754880" cy="4754880"/>
          </a:xfrm>
          <a:prstGeom prst="ellipse">
            <a:avLst/>
          </a:prstGeom>
          <a:solidFill>
            <a:srgbClr val="2563EB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3840480"/>
            <a:ext cx="3840480" cy="3840480"/>
          </a:xfrm>
          <a:prstGeom prst="ellipse">
            <a:avLst/>
          </a:prstGeom>
          <a:solidFill>
            <a:srgbClr val="16A34A">
              <a:alpha val="14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0116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97180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parcours DevOps clair, une progression que l'on peut enfin suivre.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3977640"/>
            <a:ext cx="2834640" cy="50292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39776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questions ? (4 min)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6309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Parcours DevOps Guide — Khady Diop — Projet Chef-d'œuvre CDA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445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d'accueil</a:t>
            </a:r>
            <a:endParaRPr lang="en-US" sz="1800" dirty="0"/>
          </a:p>
        </p:txBody>
      </p:sp>
      <p:sp>
        <p:nvSpPr>
          <p:cNvPr id="3" name="Shape 1">
            <a:hlinkClick r:id="rId1" tooltip="" action="ppaction://hlinksldjump"/>
          </p:cNvPr>
          <p:cNvSpPr/>
          <p:nvPr/>
        </p:nvSpPr>
        <p:spPr>
          <a:xfrm>
            <a:off x="10268712" y="45720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4" name="Text 2">
            <a:hlinkClick r:id="rId2" tooltip="" action="ppaction://hlinksldjump"/>
          </p:cNvPr>
          <p:cNvSpPr txBox="1"/>
          <p:nvPr/>
        </p:nvSpPr>
        <p:spPr>
          <a:xfrm>
            <a:off x="10268712" y="4572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Retour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777613" y="1143000"/>
            <a:ext cx="8633726" cy="530352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merise/screens/01-accuei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9053" y="1234440"/>
            <a:ext cx="8450846" cy="5120640"/>
          </a:xfrm>
          <a:prstGeom prst="rect">
            <a:avLst/>
          </a:prstGeom>
        </p:spPr>
      </p:pic>
      <p:sp>
        <p:nvSpPr>
          <p:cNvPr id="7" name="Shape 4">
            <a:hlinkClick r:id="rId4" tooltip="" action="ppaction://hlinksldjump"/>
          </p:cNvPr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F172A">
              <a:alpha val="0"/>
            </a:srgbClr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0908792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19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445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des modules</a:t>
            </a:r>
            <a:endParaRPr lang="en-US" sz="1800" dirty="0"/>
          </a:p>
        </p:txBody>
      </p:sp>
      <p:sp>
        <p:nvSpPr>
          <p:cNvPr id="3" name="Shape 1">
            <a:hlinkClick r:id="rId1" tooltip="" action="ppaction://hlinksldjump"/>
          </p:cNvPr>
          <p:cNvSpPr/>
          <p:nvPr/>
        </p:nvSpPr>
        <p:spPr>
          <a:xfrm>
            <a:off x="10268712" y="45720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4" name="Text 2">
            <a:hlinkClick r:id="rId2" tooltip="" action="ppaction://hlinksldjump"/>
          </p:cNvPr>
          <p:cNvSpPr txBox="1"/>
          <p:nvPr/>
        </p:nvSpPr>
        <p:spPr>
          <a:xfrm>
            <a:off x="10268712" y="4572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Retour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384859" y="1143000"/>
            <a:ext cx="7419234" cy="530352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merise/screens/03-module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6299" y="1234440"/>
            <a:ext cx="7236354" cy="5120640"/>
          </a:xfrm>
          <a:prstGeom prst="rect">
            <a:avLst/>
          </a:prstGeom>
        </p:spPr>
      </p:pic>
      <p:sp>
        <p:nvSpPr>
          <p:cNvPr id="7" name="Shape 4">
            <a:hlinkClick r:id="rId4" tooltip="" action="ppaction://hlinksldjump"/>
          </p:cNvPr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F172A">
              <a:alpha val="0"/>
            </a:srgbClr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0908792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19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445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Détail d'un module</a:t>
            </a:r>
            <a:endParaRPr lang="en-US" sz="1800" dirty="0"/>
          </a:p>
        </p:txBody>
      </p:sp>
      <p:sp>
        <p:nvSpPr>
          <p:cNvPr id="3" name="Shape 1">
            <a:hlinkClick r:id="rId1" tooltip="" action="ppaction://hlinksldjump"/>
          </p:cNvPr>
          <p:cNvSpPr/>
          <p:nvPr/>
        </p:nvSpPr>
        <p:spPr>
          <a:xfrm>
            <a:off x="10268712" y="45720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4" name="Text 2">
            <a:hlinkClick r:id="rId2" tooltip="" action="ppaction://hlinksldjump"/>
          </p:cNvPr>
          <p:cNvSpPr txBox="1"/>
          <p:nvPr/>
        </p:nvSpPr>
        <p:spPr>
          <a:xfrm>
            <a:off x="10268712" y="4572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Retour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789399" y="1143000"/>
            <a:ext cx="8610154" cy="530352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merise/screens/04-detail-modu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0839" y="1234440"/>
            <a:ext cx="8427274" cy="5120640"/>
          </a:xfrm>
          <a:prstGeom prst="rect">
            <a:avLst/>
          </a:prstGeom>
        </p:spPr>
      </p:pic>
      <p:sp>
        <p:nvSpPr>
          <p:cNvPr id="7" name="Shape 4">
            <a:hlinkClick r:id="rId4" tooltip="" action="ppaction://hlinksldjump"/>
          </p:cNvPr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F172A">
              <a:alpha val="0"/>
            </a:srgbClr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0908792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19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445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Diagramme de déploiement</a:t>
            </a:r>
            <a:endParaRPr lang="en-US" sz="1800" dirty="0"/>
          </a:p>
        </p:txBody>
      </p:sp>
      <p:sp>
        <p:nvSpPr>
          <p:cNvPr id="3" name="Shape 1">
            <a:hlinkClick r:id="rId1" tooltip="" action="ppaction://hlinksldjump"/>
          </p:cNvPr>
          <p:cNvSpPr/>
          <p:nvPr/>
        </p:nvSpPr>
        <p:spPr>
          <a:xfrm>
            <a:off x="10268712" y="45720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4" name="Text 2">
            <a:hlinkClick r:id="rId2" tooltip="" action="ppaction://hlinksldjump"/>
          </p:cNvPr>
          <p:cNvSpPr txBox="1"/>
          <p:nvPr/>
        </p:nvSpPr>
        <p:spPr>
          <a:xfrm>
            <a:off x="10268712" y="4572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Retour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300740" y="1143000"/>
            <a:ext cx="7587471" cy="530352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merise/deploym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2180" y="1234440"/>
            <a:ext cx="7404591" cy="5120640"/>
          </a:xfrm>
          <a:prstGeom prst="rect">
            <a:avLst/>
          </a:prstGeom>
        </p:spPr>
      </p:pic>
      <p:sp>
        <p:nvSpPr>
          <p:cNvPr id="7" name="Shape 4">
            <a:hlinkClick r:id="rId4" tooltip="" action="ppaction://hlinksldjump"/>
          </p:cNvPr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F172A">
              <a:alpha val="0"/>
            </a:srgbClr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0908792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19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445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MLD</a:t>
            </a:r>
            <a:endParaRPr lang="en-US" sz="1800" dirty="0"/>
          </a:p>
        </p:txBody>
      </p:sp>
      <p:sp>
        <p:nvSpPr>
          <p:cNvPr id="3" name="Shape 1">
            <a:hlinkClick r:id="rId1" tooltip="" action="ppaction://hlinksldjump"/>
          </p:cNvPr>
          <p:cNvSpPr/>
          <p:nvPr/>
        </p:nvSpPr>
        <p:spPr>
          <a:xfrm>
            <a:off x="10268712" y="45720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4" name="Text 2">
            <a:hlinkClick r:id="rId2" tooltip="" action="ppaction://hlinksldjump"/>
          </p:cNvPr>
          <p:cNvSpPr txBox="1"/>
          <p:nvPr/>
        </p:nvSpPr>
        <p:spPr>
          <a:xfrm>
            <a:off x="10268712" y="4572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Retour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484308" y="1143000"/>
            <a:ext cx="3220336" cy="5303520"/>
          </a:xfrm>
          <a:prstGeom prst="roundRect">
            <a:avLst>
              <a:gd name="adj" fmla="val 227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merise/m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5748" y="1234440"/>
            <a:ext cx="3037456" cy="5120640"/>
          </a:xfrm>
          <a:prstGeom prst="rect">
            <a:avLst/>
          </a:prstGeom>
        </p:spPr>
      </p:pic>
      <p:sp>
        <p:nvSpPr>
          <p:cNvPr id="7" name="Shape 4">
            <a:hlinkClick r:id="rId4" tooltip="" action="ppaction://hlinksldjump"/>
          </p:cNvPr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F172A">
              <a:alpha val="0"/>
            </a:srgbClr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0908792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19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445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MPD</a:t>
            </a:r>
            <a:endParaRPr lang="en-US" sz="1800" dirty="0"/>
          </a:p>
        </p:txBody>
      </p:sp>
      <p:sp>
        <p:nvSpPr>
          <p:cNvPr id="3" name="Shape 1">
            <a:hlinkClick r:id="rId1" tooltip="" action="ppaction://hlinksldjump"/>
          </p:cNvPr>
          <p:cNvSpPr/>
          <p:nvPr/>
        </p:nvSpPr>
        <p:spPr>
          <a:xfrm>
            <a:off x="10268712" y="45720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4" name="Text 2">
            <a:hlinkClick r:id="rId2" tooltip="" action="ppaction://hlinksldjump"/>
          </p:cNvPr>
          <p:cNvSpPr txBox="1"/>
          <p:nvPr/>
        </p:nvSpPr>
        <p:spPr>
          <a:xfrm>
            <a:off x="10268712" y="4572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Retour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832391"/>
            <a:ext cx="11274552" cy="3924738"/>
          </a:xfrm>
          <a:prstGeom prst="roundRect">
            <a:avLst>
              <a:gd name="adj" fmla="val 18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merise/mp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923831"/>
            <a:ext cx="11091672" cy="3741858"/>
          </a:xfrm>
          <a:prstGeom prst="rect">
            <a:avLst/>
          </a:prstGeom>
        </p:spPr>
      </p:pic>
      <p:sp>
        <p:nvSpPr>
          <p:cNvPr id="7" name="Shape 4">
            <a:hlinkClick r:id="rId4" tooltip="" action="ppaction://hlinksldjump"/>
          </p:cNvPr>
          <p:cNvSpPr/>
          <p:nvPr/>
        </p:nvSpPr>
        <p:spPr>
          <a:xfrm>
            <a:off x="0" y="5802849"/>
            <a:ext cx="12188952" cy="1055151"/>
          </a:xfrm>
          <a:prstGeom prst="rect">
            <a:avLst/>
          </a:prstGeom>
          <a:solidFill>
            <a:srgbClr val="0F172A">
              <a:alpha val="0"/>
            </a:srgbClr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0908792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19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445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conceptuel de données (MCD)</a:t>
            </a:r>
            <a:endParaRPr lang="en-US" sz="1800" dirty="0"/>
          </a:p>
        </p:txBody>
      </p:sp>
      <p:sp>
        <p:nvSpPr>
          <p:cNvPr id="3" name="Shape 1">
            <a:hlinkClick r:id="rId1" tooltip="" action="ppaction://hlinksldjump"/>
          </p:cNvPr>
          <p:cNvSpPr/>
          <p:nvPr/>
        </p:nvSpPr>
        <p:spPr>
          <a:xfrm>
            <a:off x="10268712" y="45720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4" name="Text 2">
            <a:hlinkClick r:id="rId2" tooltip="" action="ppaction://hlinksldjump"/>
          </p:cNvPr>
          <p:cNvSpPr txBox="1"/>
          <p:nvPr/>
        </p:nvSpPr>
        <p:spPr>
          <a:xfrm>
            <a:off x="10268712" y="4572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Retour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2625678"/>
            <a:ext cx="11274552" cy="2338164"/>
          </a:xfrm>
          <a:prstGeom prst="roundRect">
            <a:avLst>
              <a:gd name="adj" fmla="val 31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merise/mc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717118"/>
            <a:ext cx="11091672" cy="2155284"/>
          </a:xfrm>
          <a:prstGeom prst="rect">
            <a:avLst/>
          </a:prstGeom>
        </p:spPr>
      </p:pic>
      <p:sp>
        <p:nvSpPr>
          <p:cNvPr id="7" name="Shape 4">
            <a:hlinkClick r:id="rId4" tooltip="" action="ppaction://hlinksldjump"/>
          </p:cNvPr>
          <p:cNvSpPr/>
          <p:nvPr/>
        </p:nvSpPr>
        <p:spPr>
          <a:xfrm>
            <a:off x="0" y="5009562"/>
            <a:ext cx="12188952" cy="1848438"/>
          </a:xfrm>
          <a:prstGeom prst="rect">
            <a:avLst/>
          </a:prstGeom>
          <a:solidFill>
            <a:srgbClr val="0F172A">
              <a:alpha val="0"/>
            </a:srgbClr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0908792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19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445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Séquence — consultation du parcours et progression</a:t>
            </a:r>
            <a:endParaRPr lang="en-US" sz="1800" dirty="0"/>
          </a:p>
        </p:txBody>
      </p:sp>
      <p:sp>
        <p:nvSpPr>
          <p:cNvPr id="3" name="Shape 1">
            <a:hlinkClick r:id="rId1" tooltip="" action="ppaction://hlinksldjump"/>
          </p:cNvPr>
          <p:cNvSpPr/>
          <p:nvPr/>
        </p:nvSpPr>
        <p:spPr>
          <a:xfrm>
            <a:off x="10268712" y="45720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4" name="Text 2">
            <a:hlinkClick r:id="rId2" tooltip="" action="ppaction://hlinksldjump"/>
          </p:cNvPr>
          <p:cNvSpPr txBox="1"/>
          <p:nvPr/>
        </p:nvSpPr>
        <p:spPr>
          <a:xfrm>
            <a:off x="10268712" y="4572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Retour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594689" y="1143000"/>
            <a:ext cx="4999574" cy="5303520"/>
          </a:xfrm>
          <a:prstGeom prst="roundRect">
            <a:avLst>
              <a:gd name="adj" fmla="val 14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merise/sequence-rest-cro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6129" y="1234440"/>
            <a:ext cx="4816694" cy="5120640"/>
          </a:xfrm>
          <a:prstGeom prst="rect">
            <a:avLst/>
          </a:prstGeom>
        </p:spPr>
      </p:pic>
      <p:sp>
        <p:nvSpPr>
          <p:cNvPr id="7" name="Shape 4">
            <a:hlinkClick r:id="rId4" tooltip="" action="ppaction://hlinksldjump"/>
          </p:cNvPr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F172A">
              <a:alpha val="0"/>
            </a:srgbClr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0908792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19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445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Séquence — authentification</a:t>
            </a:r>
            <a:endParaRPr lang="en-US" sz="1800" dirty="0"/>
          </a:p>
        </p:txBody>
      </p:sp>
      <p:sp>
        <p:nvSpPr>
          <p:cNvPr id="3" name="Shape 1">
            <a:hlinkClick r:id="rId1" tooltip="" action="ppaction://hlinksldjump"/>
          </p:cNvPr>
          <p:cNvSpPr/>
          <p:nvPr/>
        </p:nvSpPr>
        <p:spPr>
          <a:xfrm>
            <a:off x="10268712" y="45720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4" name="Text 2">
            <a:hlinkClick r:id="rId2" tooltip="" action="ppaction://hlinksldjump"/>
          </p:cNvPr>
          <p:cNvSpPr txBox="1"/>
          <p:nvPr/>
        </p:nvSpPr>
        <p:spPr>
          <a:xfrm>
            <a:off x="10268712" y="4572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← Retour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945765" y="1143000"/>
            <a:ext cx="4297422" cy="530352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03200" dist="508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tmp/merise/sequence-auth-cro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7205" y="1234440"/>
            <a:ext cx="4114542" cy="5120640"/>
          </a:xfrm>
          <a:prstGeom prst="rect">
            <a:avLst/>
          </a:prstGeom>
        </p:spPr>
      </p:pic>
      <p:sp>
        <p:nvSpPr>
          <p:cNvPr id="7" name="Shape 4">
            <a:hlinkClick r:id="rId4" tooltip="" action="ppaction://hlinksldjump"/>
          </p:cNvPr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F172A">
              <a:alpha val="0"/>
            </a:srgbClr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0908792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19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2026-09-04T11:18:04Z</dcterms:created>
  <dcterms:modified xsi:type="dcterms:W3CDTF">2026-09-04T11:18:04Z</dcterms:modified>
</cp:coreProperties>
</file>